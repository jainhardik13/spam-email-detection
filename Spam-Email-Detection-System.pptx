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Tomorrow" panose="020B0604020202020204" charset="0"/>
      <p:regular r:id="rId17"/>
    </p:embeddedFont>
    <p:embeddedFont>
      <p:font typeface="Tomorrow Semi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254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Spam Email Detection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FastAPI · AWS · Docker · DevOps Practices</a:t>
            </a:r>
            <a:endParaRPr lang="en-US" sz="11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703257-1932-398D-7A91-6248A9F3A6A7}"/>
              </a:ext>
            </a:extLst>
          </p:cNvPr>
          <p:cNvSpPr/>
          <p:nvPr/>
        </p:nvSpPr>
        <p:spPr>
          <a:xfrm>
            <a:off x="8035937" y="4839286"/>
            <a:ext cx="1069145" cy="226814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7038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22597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Cloud-Native Spam Email Detection System using FastAPI, AWS, Docker, and DevOps Practices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1839069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198082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Student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287339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Hardik Jain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2797671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9" name="Text 6"/>
          <p:cNvSpPr/>
          <p:nvPr/>
        </p:nvSpPr>
        <p:spPr>
          <a:xfrm>
            <a:off x="637877" y="29394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University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7877" y="324594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Chitkara University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756273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12" name="Text 9"/>
          <p:cNvSpPr/>
          <p:nvPr/>
        </p:nvSpPr>
        <p:spPr>
          <a:xfrm>
            <a:off x="637877" y="38980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Department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877" y="420454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28464"/>
            <a:ext cx="30045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Project Overview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839019"/>
            <a:ext cx="3391049" cy="33910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05" y="839019"/>
            <a:ext cx="3391049" cy="33910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00960" y="2211884"/>
            <a:ext cx="196661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What This System Does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4700960" y="2444353"/>
            <a:ext cx="3391049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production-ready, cloud-native backend API that detects spam emails in real time — fully containerized and deployed on AWS infrastructure.</a:t>
            </a:r>
            <a:endParaRPr lang="en-US" sz="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780" y="4399880"/>
            <a:ext cx="152772" cy="1527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87673" y="4394820"/>
            <a:ext cx="1951434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Spam detection API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RESTful FastAPI backend with ML inference</a:t>
            </a:r>
            <a:endParaRPr lang="en-US" sz="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8812" y="4399880"/>
            <a:ext cx="152772" cy="15277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761705" y="4394820"/>
            <a:ext cx="1951509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Cloud-native deployment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Docker containers on AWS EC2</a:t>
            </a:r>
            <a:endParaRPr lang="en-US" sz="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918" y="4399880"/>
            <a:ext cx="152772" cy="15277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35812" y="4394820"/>
            <a:ext cx="1951509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Production architecture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Nginx reverse proxy, Gunicorn workers, CloudWatch monitoring</a:t>
            </a:r>
            <a:endParaRPr lang="en-US" sz="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6F535B-3CF6-FC9D-D08C-866D0B7A3819}"/>
              </a:ext>
            </a:extLst>
          </p:cNvPr>
          <p:cNvSpPr/>
          <p:nvPr/>
        </p:nvSpPr>
        <p:spPr>
          <a:xfrm>
            <a:off x="8035937" y="4839286"/>
            <a:ext cx="1069145" cy="226814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Problem Statement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Traditional deployment approaches introduce critical bottlenecks that prevent scalable, observable, and maintainable production systems.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06392" y="2002110"/>
            <a:ext cx="225921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Key Limitations Addressed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706392" y="2257871"/>
            <a:ext cx="1729383" cy="687586"/>
          </a:xfrm>
          <a:prstGeom prst="roundRect">
            <a:avLst>
              <a:gd name="adj" fmla="val 9974"/>
            </a:avLst>
          </a:prstGeom>
          <a:solidFill>
            <a:srgbClr val="1D1D1B"/>
          </a:solidFill>
          <a:ln w="14288">
            <a:solidFill>
              <a:srgbClr val="55555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692104" y="2257871"/>
            <a:ext cx="57150" cy="687586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9" name="Text 5"/>
          <p:cNvSpPr/>
          <p:nvPr/>
        </p:nvSpPr>
        <p:spPr>
          <a:xfrm>
            <a:off x="4869805" y="2378422"/>
            <a:ext cx="144541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 scalability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manual servers cannot handle traffic spikes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6515472" y="2257871"/>
            <a:ext cx="1729383" cy="687586"/>
          </a:xfrm>
          <a:prstGeom prst="roundRect">
            <a:avLst>
              <a:gd name="adj" fmla="val 9974"/>
            </a:avLst>
          </a:prstGeom>
          <a:solidFill>
            <a:srgbClr val="1D1D1B"/>
          </a:solidFill>
          <a:ln w="14288">
            <a:solidFill>
              <a:srgbClr val="55555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01185" y="2257871"/>
            <a:ext cx="57150" cy="687586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12" name="Text 8"/>
          <p:cNvSpPr/>
          <p:nvPr/>
        </p:nvSpPr>
        <p:spPr>
          <a:xfrm>
            <a:off x="6678885" y="2378422"/>
            <a:ext cx="144541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Zero monitoring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no visibility into logs, CPU, or failures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706392" y="3025155"/>
            <a:ext cx="1729383" cy="836414"/>
          </a:xfrm>
          <a:prstGeom prst="roundRect">
            <a:avLst>
              <a:gd name="adj" fmla="val 8199"/>
            </a:avLst>
          </a:prstGeom>
          <a:solidFill>
            <a:srgbClr val="1D1D1B"/>
          </a:solidFill>
          <a:ln w="14288">
            <a:solidFill>
              <a:srgbClr val="55555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92104" y="3025155"/>
            <a:ext cx="57150" cy="836414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15" name="Text 11"/>
          <p:cNvSpPr/>
          <p:nvPr/>
        </p:nvSpPr>
        <p:spPr>
          <a:xfrm>
            <a:off x="4869805" y="3145706"/>
            <a:ext cx="144541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Dependency conflicts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environment inconsistencies across machines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515472" y="3025155"/>
            <a:ext cx="1729383" cy="836414"/>
          </a:xfrm>
          <a:prstGeom prst="roundRect">
            <a:avLst>
              <a:gd name="adj" fmla="val 8199"/>
            </a:avLst>
          </a:prstGeom>
          <a:solidFill>
            <a:srgbClr val="1D1D1B"/>
          </a:solidFill>
          <a:ln w="14288">
            <a:solidFill>
              <a:srgbClr val="55555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01185" y="3025155"/>
            <a:ext cx="57150" cy="836414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18" name="Text 14"/>
          <p:cNvSpPr/>
          <p:nvPr/>
        </p:nvSpPr>
        <p:spPr>
          <a:xfrm>
            <a:off x="6678885" y="3145706"/>
            <a:ext cx="144541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Fragile deployments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manual workflows prone to human error</a:t>
            </a:r>
            <a:endParaRPr lang="en-US" sz="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64CCFC-9A41-0CD4-0C75-D321EC57CFFF}"/>
              </a:ext>
            </a:extLst>
          </p:cNvPr>
          <p:cNvSpPr/>
          <p:nvPr/>
        </p:nvSpPr>
        <p:spPr>
          <a:xfrm>
            <a:off x="8035937" y="4839286"/>
            <a:ext cx="1069145" cy="226814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1177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Technology Stack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349" y="1020514"/>
            <a:ext cx="261342" cy="2613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49" y="143239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Python &amp; FastAPI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349" y="1708770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Async API framework with auto-generated OpenAPI docs and high-performance request handling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7233" y="1020514"/>
            <a:ext cx="261342" cy="2613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7233" y="143239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AWS EC2 &amp; S3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7233" y="1708770"/>
            <a:ext cx="403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Scalable compute instances and object storage for model artifacts and static assets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349" y="2351410"/>
            <a:ext cx="261342" cy="2613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349" y="276329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Docker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7349" y="3039666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Containerization ensures environment parity across development, staging, and production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7233" y="2351410"/>
            <a:ext cx="261342" cy="2613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7233" y="276329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Nginx &amp; Gunicorn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7233" y="3039666"/>
            <a:ext cx="403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Reverse proxy and WSGI server delivering load-balanced, production-grade request handling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349" y="3682305"/>
            <a:ext cx="261342" cy="2613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7349" y="409418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CloudWatch &amp; SNS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57349" y="4370561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AWS-native log aggregation, metric alarms, and automated email alerting pipeline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7233" y="3682305"/>
            <a:ext cx="261342" cy="2613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7233" y="409418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Linux &amp; GitHub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7233" y="4370561"/>
            <a:ext cx="403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Ubuntu server management with version-controlled source code and collaboration workflows</a:t>
            </a:r>
            <a:endParaRPr lang="en-US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18A893-CE71-0AA7-7F87-1BBCC8E4FC3A}"/>
              </a:ext>
            </a:extLst>
          </p:cNvPr>
          <p:cNvSpPr/>
          <p:nvPr/>
        </p:nvSpPr>
        <p:spPr>
          <a:xfrm>
            <a:off x="8035937" y="4839286"/>
            <a:ext cx="1069145" cy="226814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3649489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AWS Cloud Architecture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layered, cloud-native architecture ensuring high availability, observability, and production-grade deployment on AWS infrastructure.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06392" y="1767334"/>
            <a:ext cx="201491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Architecture Highlights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706392" y="2023095"/>
            <a:ext cx="1729383" cy="687586"/>
          </a:xfrm>
          <a:prstGeom prst="roundRect">
            <a:avLst>
              <a:gd name="adj" fmla="val 9974"/>
            </a:avLst>
          </a:prstGeom>
          <a:solidFill>
            <a:srgbClr val="1D1D1B"/>
          </a:solidFill>
          <a:ln w="14288">
            <a:solidFill>
              <a:srgbClr val="55555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692104" y="2023095"/>
            <a:ext cx="57150" cy="687586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9" name="Text 5"/>
          <p:cNvSpPr/>
          <p:nvPr/>
        </p:nvSpPr>
        <p:spPr>
          <a:xfrm>
            <a:off x="4869805" y="2143646"/>
            <a:ext cx="144541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Nginx Reverse Proxy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handles TLS termination and request routing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6515472" y="2023095"/>
            <a:ext cx="1729383" cy="687586"/>
          </a:xfrm>
          <a:prstGeom prst="roundRect">
            <a:avLst>
              <a:gd name="adj" fmla="val 9974"/>
            </a:avLst>
          </a:prstGeom>
          <a:solidFill>
            <a:srgbClr val="1D1D1B"/>
          </a:solidFill>
          <a:ln w="14288">
            <a:solidFill>
              <a:srgbClr val="55555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01185" y="2023095"/>
            <a:ext cx="57150" cy="687586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12" name="Text 8"/>
          <p:cNvSpPr/>
          <p:nvPr/>
        </p:nvSpPr>
        <p:spPr>
          <a:xfrm>
            <a:off x="6678885" y="2143646"/>
            <a:ext cx="144541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Gunicorn Workers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async worker management for FastAPI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706392" y="2790379"/>
            <a:ext cx="1729383" cy="538758"/>
          </a:xfrm>
          <a:prstGeom prst="roundRect">
            <a:avLst>
              <a:gd name="adj" fmla="val 12729"/>
            </a:avLst>
          </a:prstGeom>
          <a:solidFill>
            <a:srgbClr val="1D1D1B"/>
          </a:solidFill>
          <a:ln w="14288">
            <a:solidFill>
              <a:srgbClr val="55555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92104" y="2790379"/>
            <a:ext cx="57150" cy="538758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15" name="Text 11"/>
          <p:cNvSpPr/>
          <p:nvPr/>
        </p:nvSpPr>
        <p:spPr>
          <a:xfrm>
            <a:off x="4869805" y="2910929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AWS S3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stores model artifacts and static assets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515472" y="2790379"/>
            <a:ext cx="1729383" cy="538758"/>
          </a:xfrm>
          <a:prstGeom prst="roundRect">
            <a:avLst>
              <a:gd name="adj" fmla="val 12729"/>
            </a:avLst>
          </a:prstGeom>
          <a:solidFill>
            <a:srgbClr val="1D1D1B"/>
          </a:solidFill>
          <a:ln w="14288">
            <a:solidFill>
              <a:srgbClr val="55555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01185" y="2790379"/>
            <a:ext cx="57150" cy="538758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18" name="Text 14"/>
          <p:cNvSpPr/>
          <p:nvPr/>
        </p:nvSpPr>
        <p:spPr>
          <a:xfrm>
            <a:off x="6678885" y="2910929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CloudWatch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centralized log and metric monitoring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706392" y="3408834"/>
            <a:ext cx="1729383" cy="687586"/>
          </a:xfrm>
          <a:prstGeom prst="roundRect">
            <a:avLst>
              <a:gd name="adj" fmla="val 9974"/>
            </a:avLst>
          </a:prstGeom>
          <a:solidFill>
            <a:srgbClr val="1D1D1B"/>
          </a:solidFill>
          <a:ln w="14288">
            <a:solidFill>
              <a:srgbClr val="5555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92104" y="3408834"/>
            <a:ext cx="57150" cy="687586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21" name="Text 17"/>
          <p:cNvSpPr/>
          <p:nvPr/>
        </p:nvSpPr>
        <p:spPr>
          <a:xfrm>
            <a:off x="4869805" y="3529385"/>
            <a:ext cx="144541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SNS Alerts</a:t>
            </a:r>
            <a:r>
              <a:rPr lang="en-US" sz="8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automated email notifications on threshold breaches</a:t>
            </a:r>
            <a:endParaRPr lang="en-US" sz="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1A9259-A840-9707-6EF8-5C2D8D00EC48}"/>
              </a:ext>
            </a:extLst>
          </p:cNvPr>
          <p:cNvSpPr/>
          <p:nvPr/>
        </p:nvSpPr>
        <p:spPr>
          <a:xfrm>
            <a:off x="8035937" y="4839286"/>
            <a:ext cx="1069145" cy="226814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06139"/>
            <a:ext cx="467134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Docker &amp; DevOps Implementation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129" y="744587"/>
            <a:ext cx="6509593" cy="24426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8172" y="2594255"/>
            <a:ext cx="1210419" cy="1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EC2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110811" y="2594255"/>
            <a:ext cx="1210419" cy="1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Container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880176" y="2594255"/>
            <a:ext cx="1210419" cy="1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Image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49541" y="2594255"/>
            <a:ext cx="1210418" cy="1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Build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392006" y="2594255"/>
            <a:ext cx="1210419" cy="1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Source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209452" y="3262610"/>
            <a:ext cx="718222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Containerization eliminates environment inconsistency — the same image runs identically across development, testing, and production.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209452" y="3469556"/>
            <a:ext cx="3328988" cy="650379"/>
          </a:xfrm>
          <a:prstGeom prst="roundRect">
            <a:avLst>
              <a:gd name="adj" fmla="val 2248"/>
            </a:avLst>
          </a:prstGeom>
          <a:solidFill>
            <a:srgbClr val="3C3C3A"/>
          </a:solidFill>
          <a:ln/>
        </p:spPr>
      </p:sp>
      <p:sp>
        <p:nvSpPr>
          <p:cNvPr id="11" name="Text 8"/>
          <p:cNvSpPr/>
          <p:nvPr/>
        </p:nvSpPr>
        <p:spPr>
          <a:xfrm>
            <a:off x="1306860" y="3566964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Portability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306860" y="3759398"/>
            <a:ext cx="3134171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Single Docker image deploys to any Linux host without reconfiguration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605412" y="3469556"/>
            <a:ext cx="3329062" cy="650379"/>
          </a:xfrm>
          <a:prstGeom prst="roundRect">
            <a:avLst>
              <a:gd name="adj" fmla="val 2248"/>
            </a:avLst>
          </a:prstGeom>
          <a:solidFill>
            <a:srgbClr val="3C3C3A"/>
          </a:solidFill>
          <a:ln/>
        </p:spPr>
      </p:sp>
      <p:sp>
        <p:nvSpPr>
          <p:cNvPr id="14" name="Text 11"/>
          <p:cNvSpPr/>
          <p:nvPr/>
        </p:nvSpPr>
        <p:spPr>
          <a:xfrm>
            <a:off x="4702820" y="3566964"/>
            <a:ext cx="129406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systemd Automation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02820" y="3759398"/>
            <a:ext cx="3134246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Container auto-starts on boot with restart policies for high availability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209452" y="4186907"/>
            <a:ext cx="3328988" cy="650379"/>
          </a:xfrm>
          <a:prstGeom prst="roundRect">
            <a:avLst>
              <a:gd name="adj" fmla="val 2248"/>
            </a:avLst>
          </a:prstGeom>
          <a:solidFill>
            <a:srgbClr val="3C3C3A"/>
          </a:solidFill>
          <a:ln/>
        </p:spPr>
      </p:sp>
      <p:sp>
        <p:nvSpPr>
          <p:cNvPr id="17" name="Text 14"/>
          <p:cNvSpPr/>
          <p:nvPr/>
        </p:nvSpPr>
        <p:spPr>
          <a:xfrm>
            <a:off x="1306860" y="4284315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GitHub Integration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306860" y="4476750"/>
            <a:ext cx="313417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Version-controlled Dockerfile and deployment scripts in repository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605412" y="4186907"/>
            <a:ext cx="3329062" cy="650379"/>
          </a:xfrm>
          <a:prstGeom prst="roundRect">
            <a:avLst>
              <a:gd name="adj" fmla="val 2248"/>
            </a:avLst>
          </a:prstGeom>
          <a:solidFill>
            <a:srgbClr val="3C3C3A"/>
          </a:solidFill>
          <a:ln/>
        </p:spPr>
      </p:sp>
      <p:sp>
        <p:nvSpPr>
          <p:cNvPr id="20" name="Text 17"/>
          <p:cNvSpPr/>
          <p:nvPr/>
        </p:nvSpPr>
        <p:spPr>
          <a:xfrm>
            <a:off x="4702820" y="4284315"/>
            <a:ext cx="164016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Linux Server Management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02820" y="4476750"/>
            <a:ext cx="3134246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Ubuntu LTS with hardened SSH, IAM roles, and minimal attack surface</a:t>
            </a:r>
            <a:endParaRPr lang="en-US" sz="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F9DC12-D81D-5179-56D9-19299668A432}"/>
              </a:ext>
            </a:extLst>
          </p:cNvPr>
          <p:cNvSpPr/>
          <p:nvPr/>
        </p:nvSpPr>
        <p:spPr>
          <a:xfrm>
            <a:off x="8035937" y="4839286"/>
            <a:ext cx="1069145" cy="226814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318567"/>
            <a:ext cx="399328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Monitoring &amp; Alerting Pipeline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769516"/>
            <a:ext cx="3096220" cy="30962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98" y="769516"/>
            <a:ext cx="3096220" cy="3096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90244" y="2094235"/>
            <a:ext cx="209825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Infrastructure Observability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690244" y="2300585"/>
            <a:ext cx="3096220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Full-stack monitoring ensures rapid incident detection and response across the entire deployment.</a:t>
            </a:r>
            <a:endParaRPr lang="en-US" sz="700" dirty="0"/>
          </a:p>
        </p:txBody>
      </p:sp>
      <p:sp>
        <p:nvSpPr>
          <p:cNvPr id="7" name="Shape 3"/>
          <p:cNvSpPr/>
          <p:nvPr/>
        </p:nvSpPr>
        <p:spPr>
          <a:xfrm>
            <a:off x="1362298" y="4003104"/>
            <a:ext cx="1559049" cy="821829"/>
          </a:xfrm>
          <a:prstGeom prst="roundRect">
            <a:avLst>
              <a:gd name="adj" fmla="val 1698"/>
            </a:avLst>
          </a:prstGeom>
          <a:solidFill>
            <a:srgbClr val="1D1D1B"/>
          </a:solidFill>
          <a:ln w="9525">
            <a:solidFill>
              <a:srgbClr val="55555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371823" y="4012629"/>
            <a:ext cx="1539999" cy="279053"/>
          </a:xfrm>
          <a:prstGeom prst="roundRect">
            <a:avLst>
              <a:gd name="adj" fmla="val 905"/>
            </a:avLst>
          </a:prstGeom>
          <a:solidFill>
            <a:srgbClr val="3C3C3A"/>
          </a:solidFill>
          <a:ln/>
        </p:spPr>
      </p:sp>
      <p:sp>
        <p:nvSpPr>
          <p:cNvPr id="9" name="Text 5"/>
          <p:cNvSpPr/>
          <p:nvPr/>
        </p:nvSpPr>
        <p:spPr>
          <a:xfrm>
            <a:off x="2072060" y="4064943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464841" y="4352702"/>
            <a:ext cx="1353964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Log Monitoring</a:t>
            </a:r>
            <a:r>
              <a:rPr lang="en-US" sz="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stdout/stderr captured by CloudWatch agent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2982367" y="4003104"/>
            <a:ext cx="1559123" cy="821829"/>
          </a:xfrm>
          <a:prstGeom prst="roundRect">
            <a:avLst>
              <a:gd name="adj" fmla="val 1698"/>
            </a:avLst>
          </a:prstGeom>
          <a:solidFill>
            <a:srgbClr val="1D1D1B"/>
          </a:solidFill>
          <a:ln w="9525">
            <a:solidFill>
              <a:srgbClr val="55555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991892" y="4012629"/>
            <a:ext cx="1540073" cy="279053"/>
          </a:xfrm>
          <a:prstGeom prst="roundRect">
            <a:avLst>
              <a:gd name="adj" fmla="val 905"/>
            </a:avLst>
          </a:prstGeom>
          <a:solidFill>
            <a:srgbClr val="3C3C3A"/>
          </a:solidFill>
          <a:ln/>
        </p:spPr>
      </p:sp>
      <p:sp>
        <p:nvSpPr>
          <p:cNvPr id="13" name="Text 9"/>
          <p:cNvSpPr/>
          <p:nvPr/>
        </p:nvSpPr>
        <p:spPr>
          <a:xfrm>
            <a:off x="3692128" y="4064943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084909" y="4352702"/>
            <a:ext cx="1354038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CPU &amp; Memory</a:t>
            </a:r>
            <a:r>
              <a:rPr lang="en-US" sz="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EC2 instance metrics tracked continuously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602510" y="4003104"/>
            <a:ext cx="1559049" cy="821829"/>
          </a:xfrm>
          <a:prstGeom prst="roundRect">
            <a:avLst>
              <a:gd name="adj" fmla="val 1698"/>
            </a:avLst>
          </a:prstGeom>
          <a:solidFill>
            <a:srgbClr val="1D1D1B"/>
          </a:solidFill>
          <a:ln w="9525">
            <a:solidFill>
              <a:srgbClr val="55555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12035" y="4012629"/>
            <a:ext cx="1539999" cy="279053"/>
          </a:xfrm>
          <a:prstGeom prst="roundRect">
            <a:avLst>
              <a:gd name="adj" fmla="val 905"/>
            </a:avLst>
          </a:prstGeom>
          <a:solidFill>
            <a:srgbClr val="3C3C3A"/>
          </a:solidFill>
          <a:ln/>
        </p:spPr>
      </p:sp>
      <p:sp>
        <p:nvSpPr>
          <p:cNvPr id="17" name="Text 13"/>
          <p:cNvSpPr/>
          <p:nvPr/>
        </p:nvSpPr>
        <p:spPr>
          <a:xfrm>
            <a:off x="5312271" y="4064943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705052" y="4352702"/>
            <a:ext cx="1353964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Alarm Thresholds</a:t>
            </a:r>
            <a:r>
              <a:rPr lang="en-US" sz="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configurable thresholds for CPU, latency, errors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6222578" y="4003104"/>
            <a:ext cx="1559123" cy="821829"/>
          </a:xfrm>
          <a:prstGeom prst="roundRect">
            <a:avLst>
              <a:gd name="adj" fmla="val 1698"/>
            </a:avLst>
          </a:prstGeom>
          <a:solidFill>
            <a:srgbClr val="1D1D1B"/>
          </a:solidFill>
          <a:ln w="9525">
            <a:solidFill>
              <a:srgbClr val="55555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32103" y="4012629"/>
            <a:ext cx="1540073" cy="279053"/>
          </a:xfrm>
          <a:prstGeom prst="roundRect">
            <a:avLst>
              <a:gd name="adj" fmla="val 905"/>
            </a:avLst>
          </a:prstGeom>
          <a:solidFill>
            <a:srgbClr val="3C3C3A"/>
          </a:solidFill>
          <a:ln/>
        </p:spPr>
      </p:sp>
      <p:sp>
        <p:nvSpPr>
          <p:cNvPr id="21" name="Text 17"/>
          <p:cNvSpPr/>
          <p:nvPr/>
        </p:nvSpPr>
        <p:spPr>
          <a:xfrm>
            <a:off x="6932340" y="4064943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325121" y="4352702"/>
            <a:ext cx="1354038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SNS Email Alerts</a:t>
            </a:r>
            <a:r>
              <a:rPr lang="en-US" sz="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instant notification on alarm trigger</a:t>
            </a:r>
            <a:endParaRPr lang="en-US" sz="7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23A8EF-4437-17A8-6288-51E7B062FCA8}"/>
              </a:ext>
            </a:extLst>
          </p:cNvPr>
          <p:cNvSpPr/>
          <p:nvPr/>
        </p:nvSpPr>
        <p:spPr>
          <a:xfrm>
            <a:off x="8035937" y="4839286"/>
            <a:ext cx="1069145" cy="226814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2443"/>
            <a:ext cx="83229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Challenges Faced &amp; Solutions Implemented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98947"/>
            <a:ext cx="8151763" cy="2472035"/>
          </a:xfrm>
          <a:prstGeom prst="roundRect">
            <a:avLst>
              <a:gd name="adj" fmla="val 86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793528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16140" y="1793528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2640" y="2204740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Nginx serving default page instead of proxying to 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16140" y="2204740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Corrected reverse proxy configuration in </a:t>
            </a: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nginx.conf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2640" y="2615952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Gunicorn workers crashing under load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16140" y="2615952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Optimized worker count and timeout settings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640" y="302716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Docker port conflicts on EC2 host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16140" y="302716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Explicit port mapping in </a:t>
            </a: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and Compose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640" y="343837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S3 access denied errors from EC2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16140" y="343837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Attached IAM role with </a:t>
            </a: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s3:GetObject</a:t>
            </a: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permissions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640" y="3849588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CloudWatch not capturing application logs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6140" y="3849588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Installed and configured CloudWatch agent on Ubuntu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470391-A97C-6D59-419B-A978B1A9F220}"/>
              </a:ext>
            </a:extLst>
          </p:cNvPr>
          <p:cNvSpPr/>
          <p:nvPr/>
        </p:nvSpPr>
        <p:spPr>
          <a:xfrm>
            <a:off x="8035937" y="4839286"/>
            <a:ext cx="1069145" cy="226814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4614"/>
            <a:ext cx="683500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Results, Future Scope &amp; Conclusion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31119"/>
            <a:ext cx="4004965" cy="1506810"/>
          </a:xfrm>
          <a:prstGeom prst="roundRect">
            <a:avLst>
              <a:gd name="adj" fmla="val 1411"/>
            </a:avLst>
          </a:prstGeom>
          <a:solidFill>
            <a:srgbClr val="3C3C3A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472878"/>
            <a:ext cx="17720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✅</a:t>
            </a: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 Achieved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1788914"/>
            <a:ext cx="37214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Successful AWS EC2 deployment · Dockerized architecture · Production-ready FastAPI backend · CloudWatch monitoring active · SNS alerting operational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331119"/>
            <a:ext cx="4005039" cy="1506810"/>
          </a:xfrm>
          <a:prstGeom prst="roundRect">
            <a:avLst>
              <a:gd name="adj" fmla="val 1411"/>
            </a:avLst>
          </a:prstGeom>
          <a:solidFill>
            <a:srgbClr val="3C3C3A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1472878"/>
            <a:ext cx="17720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🔭</a:t>
            </a: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 Future Scope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1788914"/>
            <a:ext cx="37215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Kubernetes (EKS) · CI/CD pipeline · AWS ECS · SageMaker integration · Lambda + API Gateway · MLOps · PySpark batch processing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32820"/>
            <a:ext cx="8151763" cy="10567"/>
          </a:xfrm>
          <a:prstGeom prst="rect">
            <a:avLst/>
          </a:prstGeom>
          <a:solidFill>
            <a:srgbClr val="C9C9C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3291408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6119" y="3858369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This project demonstrates end-to-end cloud-native deployment engineering — from containerization and reverse proxy configuration to infrastructure monitoring on AWS. Key learning outcomes include production DevOps practices, AWS service integration, and scalable backend architecture design.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2CFD88-7D73-6A60-DF64-DA3B0A3CD05E}"/>
              </a:ext>
            </a:extLst>
          </p:cNvPr>
          <p:cNvSpPr/>
          <p:nvPr/>
        </p:nvSpPr>
        <p:spPr>
          <a:xfrm>
            <a:off x="8035937" y="4839286"/>
            <a:ext cx="1069145" cy="226814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625</Words>
  <Application>Microsoft Office PowerPoint</Application>
  <PresentationFormat>On-screen Show 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Consolas</vt:lpstr>
      <vt:lpstr>Arial</vt:lpstr>
      <vt:lpstr>Tomorrow SemiBold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Hardik Jain</cp:lastModifiedBy>
  <cp:revision>2</cp:revision>
  <dcterms:created xsi:type="dcterms:W3CDTF">2026-05-27T03:30:31Z</dcterms:created>
  <dcterms:modified xsi:type="dcterms:W3CDTF">2026-05-27T03:33:12Z</dcterms:modified>
</cp:coreProperties>
</file>